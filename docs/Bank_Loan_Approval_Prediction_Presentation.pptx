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5D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179-4474-B67A-1A4955E2F6CC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79-4474-B67A-1A4955E2F6C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79-4474-B67A-1A4955E2F6C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79-4474-B67A-1A4955E2F6C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Approved</c:v>
                </c:pt>
                <c:pt idx="1">
                  <c:v>Rejected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422</c:v>
                </c:pt>
                <c:pt idx="1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79-4474-B67A-1A4955E2F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B5D8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Decision
Tree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0.78859999999999997</c:v>
                </c:pt>
                <c:pt idx="1">
                  <c:v>0.78859999999999997</c:v>
                </c:pt>
                <c:pt idx="2">
                  <c:v>0.75609999999999999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29-4BE2-BEC4-A40177B726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Decision
Tree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0.98750000000000004</c:v>
                </c:pt>
                <c:pt idx="1">
                  <c:v>0.97499999999999998</c:v>
                </c:pt>
                <c:pt idx="2">
                  <c:v>0.9375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29-4BE2-BEC4-A40177B726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Decision
Tree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0.85870000000000002</c:v>
                </c:pt>
                <c:pt idx="1">
                  <c:v>0.85709999999999997</c:v>
                </c:pt>
                <c:pt idx="2">
                  <c:v>0.83330000000000004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29-4BE2-BEC4-A40177B726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75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5D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Approval Prediction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414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pipeline that predicts whether a bank loan application will be approved or rejected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Rupjit Das</a:t>
            </a:r>
            <a:r>
              <a:rPr lang="en-US" sz="1300" dirty="0">
                <a:solidFill>
                  <a:srgbClr val="AFC4D6"/>
                </a:solidFill>
              </a:rPr>
              <a:t>  •  BCA 3rd Year  •  Banking &amp; Financial Services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86484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864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Data Behind 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0B5D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loan application will be Approved or Rejected, using applicant demographic, financial, and credit data.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banks a faster, more consistent, data-driven way to support loan-approval decisions.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4572000" cy="0"/>
          </a:xfrm>
          <a:prstGeom prst="line">
            <a:avLst/>
          </a:prstGeom>
          <a:noFill/>
          <a:ln w="12700">
            <a:solidFill>
              <a:srgbClr val="3A79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54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 •  Mixed feature types  •  Missing data in 7 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70992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064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496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70992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496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2971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08152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 / 192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06440" y="3749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49640" y="2971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308152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49640" y="3749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GROUPS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06440" y="458114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053328" y="44714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Gender, Married, Dependents, Education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06440" y="512978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053328" y="502005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Income, Loan Amount, Loan Term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06440" y="56784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6053328" y="55686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Location: Credit History, Property Area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Approval Prediction — Capstone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Model-Ready Features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B5D8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2316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B5D8A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176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(EDA)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1737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B5D8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176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9516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0" y="1737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B5D8A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2176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</a:t>
            </a:r>
            <a:endParaRPr lang="en-US" sz="11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8116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1737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2640" y="2176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</a:t>
            </a:r>
            <a:endParaRPr lang="en-US" sz="11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FROM EDA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5760" y="3429000"/>
          <a:ext cx="32918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3840480" y="342900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69080" y="3611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of applications were approved historically — a moderately imbalanced target.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069080" y="4526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(gender, education, employment) barely move approval rates — the decision is driven by financial &amp; credit factors, not applicant profile.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18120" y="3429000"/>
            <a:ext cx="3886200" cy="2834640"/>
          </a:xfrm>
          <a:prstGeom prst="roundRect">
            <a:avLst>
              <a:gd name="adj" fmla="val 2581"/>
            </a:avLst>
          </a:prstGeom>
          <a:solidFill>
            <a:srgbClr val="0B5D8A"/>
          </a:solidFill>
          <a:ln/>
        </p:spPr>
      </p:sp>
      <p:sp>
        <p:nvSpPr>
          <p:cNvPr id="30" name="Text 27"/>
          <p:cNvSpPr/>
          <p:nvPr/>
        </p:nvSpPr>
        <p:spPr>
          <a:xfrm>
            <a:off x="804672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046720" y="3931920"/>
            <a:ext cx="34290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approvals dominate the data, accuracy alone can mislead. Precision, Recall &amp; F1 were used to judge models fairly.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Approval Prediction — Capstone Project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 Trained &amp; Compared</a:t>
            </a:r>
            <a:endParaRPr lang="en-US" sz="2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0020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09560" y="2057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0956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78.86%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32095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0" y="32095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75.96%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09560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0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98.75%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560" y="4050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601200" y="4050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85.87%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09560" y="4517136"/>
            <a:ext cx="3566160" cy="0"/>
          </a:xfrm>
          <a:prstGeom prst="line">
            <a:avLst/>
          </a:prstGeom>
          <a:noFill/>
          <a:ln w="12700">
            <a:solidFill>
              <a:srgbClr val="3A4E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4700016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with Random Forest on accuracy — chosen for higher recall and easier explainability in a lending context.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Approval Prediction — Capstone Project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APPROVAL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History Is the #1 Predictor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5836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pic>
        <p:nvPicPr>
          <p:cNvPr id="6" name="Image 0" descr="images/feature_importance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612648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0" y="1737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Credit_History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0" y="2532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ApplicantIncome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0" y="25328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29169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LoanAmount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0" y="29169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0" y="365760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0B5D8A"/>
          </a:solidFill>
          <a:ln/>
        </p:spPr>
      </p:sp>
      <p:sp>
        <p:nvSpPr>
          <p:cNvPr id="15" name="Text 12"/>
          <p:cNvSpPr/>
          <p:nvPr/>
        </p:nvSpPr>
        <p:spPr>
          <a:xfrm>
            <a:off x="754380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43800" y="41605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alone accounts for the largest share of predictive power — followed by income and loan size. Demographics rank lowest, confirming the decision is financially driven.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Approval Prediction — Capstone Project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07692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1076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&amp; Where It Goes Next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F5F8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data-driven second opinion alongside manual review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F5F8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18211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reviewer effort on borderline / risky applications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F5F8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2793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officers can see which factors drove a prediction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993392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91109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already-imported XGBoost model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2505456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(GridSearchCV)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93522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(weighting / SMOTE)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35040" y="352958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4472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(e.g. Total Income)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35040" y="404164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95935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behind a simple API / web form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035040" y="46634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today as a decision-support tool alongside human underwriters — not a fully automated approval system.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Approval Prediction — Capstone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B5D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Working ML Pipeline for Loan Approval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messy applicant data to a saved, compared set of trained models — every stage was implemented and validated.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3832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4114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3832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4114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33832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15400" y="4114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Rupjit Das  •  BCA 3rd Year  •  Bank Loan Approval Prediction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554</Words>
  <Application>Microsoft Office PowerPoint</Application>
  <PresentationFormat>Widescreen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Rupjit Das</cp:lastModifiedBy>
  <cp:revision>2</cp:revision>
  <dcterms:created xsi:type="dcterms:W3CDTF">2026-08-03T06:11:19Z</dcterms:created>
  <dcterms:modified xsi:type="dcterms:W3CDTF">2026-08-03T06:20:47Z</dcterms:modified>
</cp:coreProperties>
</file>